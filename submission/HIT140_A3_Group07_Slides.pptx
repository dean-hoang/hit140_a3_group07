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08c446b-4cb8-c3a5-bdb3-b6b4c619a32c}">
          <p14:sldIdLst>
            <p14:sldId id="256"/>
            <p14:sldId id="257"/>
          </p14:sldIdLst>
        </p14:section>
        <p14:section name="Data" id="{b28a5601-627e-a9cd-12e0-20fc7e1b196d}">
          <p14:sldIdLst>
            <p14:sldId id="258"/>
            <p14:sldId id="259"/>
          </p14:sldIdLst>
        </p14:section>
        <p14:section name="Regression 2.1" id="{d30e4c25-5459-61f8-e4d9-423648dc3d21}">
          <p14:sldIdLst>
            <p14:sldId id="260"/>
            <p14:sldId id="261"/>
            <p14:sldId id="262"/>
          </p14:sldIdLst>
        </p14:section>
        <p14:section name="Regression 2.2" id="{34b63bcf-07cc-7371-0b58-09d497c44388}">
          <p14:sldIdLst>
            <p14:sldId id="263"/>
            <p14:sldId id="264"/>
            <p14:sldId id="265"/>
          </p14:sldIdLst>
        </p14:section>
        <p14:section name="Conclusion" id="{9d34ca9a-4a5a-f61a-48f8-098e9144a86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231D"/>
                </a:solidFill>
                <a:latin typeface="+mn-lt"/>
              </a:rPr>
              <a:t>Pearson r with goal difference (104 matches)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goal difference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log_value_ratio</c:v>
                  </c:pt>
                  <c:pt idx="1">
                    <c:v>fifa_rank_diff</c:v>
                  </c:pt>
                  <c:pt idx="2">
                    <c:v>wc_experience_diff</c:v>
                  </c:pt>
                  <c:pt idx="3">
                    <c:v>form_gd_pg_diff</c:v>
                  </c:pt>
                  <c:pt idx="4">
                    <c:v>elite_conf_diff</c:v>
                  </c:pt>
                  <c:pt idx="5">
                    <c:v>host_diff</c:v>
                  </c:pt>
                  <c:pt idx="6">
                    <c:v>avg_age_diff</c:v>
                  </c:pt>
                  <c:pt idx="7">
                    <c:v>rest_days_diff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0.662</c:v>
                </c:pt>
                <c:pt idx="1">
                  <c:v>-0.621</c:v>
                </c:pt>
                <c:pt idx="2">
                  <c:v>0.533</c:v>
                </c:pt>
                <c:pt idx="3">
                  <c:v>0.318</c:v>
                </c:pt>
                <c:pt idx="4">
                  <c:v>0.316</c:v>
                </c:pt>
                <c:pt idx="5">
                  <c:v>0.123</c:v>
                </c:pt>
                <c:pt idx="6">
                  <c:v>-0.081</c:v>
                </c:pt>
                <c:pt idx="7">
                  <c:v>0.037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3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b"/>
        <c:majorGridlines>
          <c:spPr>
            <a:ln w="6350" cap="flat">
              <a:solidFill>
                <a:srgbClr val="DC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231D"/>
                </a:solidFill>
                <a:latin typeface="+mn-lt"/>
              </a:rPr>
              <a:t>Cross-validated RMSE,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 (goals)</c:v>
                </c:pt>
              </c:strCache>
            </c:strRef>
          </c:tx>
          <c:spPr>
            <a:solidFill>
              <a:srgbClr val="9DB8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8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D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 (mean)</c:v>
                  </c:pt>
                  <c:pt idx="1">
                    <c:v>Model A (8 vars)</c:v>
                  </c:pt>
                  <c:pt idx="2">
                    <c:v>Model B (3 vars)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1.98</c:v>
                </c:pt>
                <c:pt idx="1">
                  <c:v>1.53</c:v>
                </c:pt>
                <c:pt idx="2">
                  <c:v>1.45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3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l"/>
        <c:majorGridlines>
          <c:spPr>
            <a:ln w="6350" cap="flat">
              <a:solidFill>
                <a:srgbClr val="DC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231D"/>
                </a:solidFill>
                <a:latin typeface="+mn-lt"/>
              </a:rPr>
              <a:t>Goals scored by a team in a match (208 rows)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Team-match rows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71</c:v>
                </c:pt>
                <c:pt idx="2">
                  <c:v>39</c:v>
                </c:pt>
                <c:pt idx="3">
                  <c:v>25</c:v>
                </c:pt>
                <c:pt idx="4">
                  <c:v>10</c:v>
                </c:pt>
                <c:pt idx="5">
                  <c:v>5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3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C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231D"/>
                </a:solidFill>
                <a:latin typeface="+mn-lt"/>
              </a:rPr>
              <a:t>Cross-validated RMSE,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 (goals)</c:v>
                </c:pt>
              </c:strCache>
            </c:strRef>
          </c:tx>
          <c:spPr>
            <a:solidFill>
              <a:srgbClr val="9DB8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8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D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8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Model A</c:v>
                  </c:pt>
                  <c:pt idx="2">
                    <c:v>Model B</c:v>
                  </c:pt>
                  <c:pt idx="3">
                    <c:v>Model C (log)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1.37</c:v>
                </c:pt>
                <c:pt idx="1">
                  <c:v>1.21</c:v>
                </c:pt>
                <c:pt idx="2">
                  <c:v>1.19</c:v>
                </c:pt>
                <c:pt idx="3">
                  <c:v>1.24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3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l"/>
        <c:majorGridlines>
          <c:spPr>
            <a:ln w="6350" cap="flat">
              <a:solidFill>
                <a:srgbClr val="DCE4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two regression tasks from Objective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targets and the 104/208 row requirement from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brief's rule: only information available before the match. Form features use cumulative sums minus the current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each variable should matter before a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Correlations are strong for value, ranking and experience; collinearity explains later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 coefficients holding others fixed; the negative confederation effect is not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 overfits: train R² 0.53 vs test 0.28. Model B generalises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Right-skewed integer target: a challenge for linear regression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C = log(1+goals) target, back-transformed. Best on the single split (test R² 0.25) but not in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assumptions and the improvement attempt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 and limitations;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HIT140 · Assessment 3 · Group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Predicting World Cup 2026 Results with Linear Regression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HIT140 Foundations of Data Science · Assessment 3 (Objective 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Sydney Group 07 · [Member names and student IDs]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Two questions, one tournament</a:t>
            </a:r>
            <a:endParaRPr lang="en-US" sz="2600" dirty="0"/>
          </a:p>
        </p:txBody>
      </p:sp>
      <p:sp>
        <p:nvSpPr>
          <p:cNvPr id="3" name="Task 2.1 card"/>
          <p:cNvSpPr/>
          <p:nvPr/>
        </p:nvSpPr>
        <p:spPr>
          <a:xfrm>
            <a:off x="457200" y="1188720"/>
            <a:ext cx="39776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Linear Regression 2.1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How big will the winning margin be?</a:t>
            </a:r>
            <a:endParaRPr lang="en-US" sz="1400" dirty="0"/>
          </a:p>
        </p:txBody>
      </p:sp>
      <p:sp>
        <p:nvSpPr>
          <p:cNvPr id="6" name="2.1 rows value"/>
          <p:cNvSpPr txBox="1"/>
          <p:nvPr/>
        </p:nvSpPr>
        <p:spPr>
          <a:xfrm>
            <a:off x="731520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4000" dirty="0"/>
          </a:p>
        </p:txBody>
      </p:sp>
      <p:sp>
        <p:nvSpPr>
          <p:cNvPr id="7" name="2.1 rows label"/>
          <p:cNvSpPr txBox="1"/>
          <p:nvPr/>
        </p:nvSpPr>
        <p:spPr>
          <a:xfrm>
            <a:off x="73152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matches (rows)</a:t>
            </a:r>
            <a:endParaRPr lang="en-US" sz="1200" dirty="0"/>
          </a:p>
        </p:txBody>
      </p:sp>
      <p:sp>
        <p:nvSpPr>
          <p:cNvPr id="8" name="2.1 target value"/>
          <p:cNvSpPr txBox="1"/>
          <p:nvPr/>
        </p:nvSpPr>
        <p:spPr>
          <a:xfrm>
            <a:off x="237744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</a:t>
            </a:r>
            <a:endParaRPr lang="en-US" sz="4000" dirty="0"/>
          </a:p>
        </p:txBody>
      </p:sp>
      <p:sp>
        <p:nvSpPr>
          <p:cNvPr id="9" name="2.1 target label"/>
          <p:cNvSpPr txBox="1"/>
          <p:nvPr/>
        </p:nvSpPr>
        <p:spPr>
          <a:xfrm>
            <a:off x="237744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target: team1 − team2 goals</a:t>
            </a:r>
            <a:endParaRPr lang="en-US" sz="1200" dirty="0"/>
          </a:p>
        </p:txBody>
      </p:sp>
      <p:sp>
        <p:nvSpPr>
          <p:cNvPr id="10" name="Task 2.2 card"/>
          <p:cNvSpPr/>
          <p:nvPr/>
        </p:nvSpPr>
        <p:spPr>
          <a:xfrm>
            <a:off x="4709160" y="1188720"/>
            <a:ext cx="39776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Linear Regression 2.2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How many goals will a team score?</a:t>
            </a:r>
            <a:endParaRPr lang="en-US" sz="1400" dirty="0"/>
          </a:p>
        </p:txBody>
      </p:sp>
      <p:sp>
        <p:nvSpPr>
          <p:cNvPr id="13" name="2.2 rows value"/>
          <p:cNvSpPr txBox="1"/>
          <p:nvPr/>
        </p:nvSpPr>
        <p:spPr>
          <a:xfrm>
            <a:off x="4983480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4000" dirty="0"/>
          </a:p>
        </p:txBody>
      </p:sp>
      <p:sp>
        <p:nvSpPr>
          <p:cNvPr id="14" name="2.2 rows label"/>
          <p:cNvSpPr txBox="1"/>
          <p:nvPr/>
        </p:nvSpPr>
        <p:spPr>
          <a:xfrm>
            <a:off x="4983480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team-match rows</a:t>
            </a:r>
            <a:endParaRPr lang="en-US" sz="1200" dirty="0"/>
          </a:p>
        </p:txBody>
      </p:sp>
      <p:sp>
        <p:nvSpPr>
          <p:cNvPr id="15" name="2.2 target value"/>
          <p:cNvSpPr txBox="1"/>
          <p:nvPr/>
        </p:nvSpPr>
        <p:spPr>
          <a:xfrm>
            <a:off x="6629400" y="2240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4000" dirty="0"/>
          </a:p>
        </p:txBody>
      </p:sp>
      <p:sp>
        <p:nvSpPr>
          <p:cNvPr id="16" name="2.2 target label"/>
          <p:cNvSpPr txBox="1"/>
          <p:nvPr/>
        </p:nvSpPr>
        <p:spPr>
          <a:xfrm>
            <a:off x="6629400" y="2926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target: goals scored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models use exactly 8 explanatory variables, all known before kick-off. 48 teams · 308 goals · champions Spain.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From raw results to leak-free features</a:t>
            </a:r>
            <a:endParaRPr lang="en-US" sz="2600" dirty="0"/>
          </a:p>
        </p:txBody>
      </p:sp>
      <p:sp>
        <p:nvSpPr>
          <p:cNvPr id="3" name="Step 1 card"/>
          <p:cNvSpPr/>
          <p:nvPr/>
        </p:nvSpPr>
        <p:spPr>
          <a:xfrm>
            <a:off x="457200" y="1234440"/>
            <a:ext cx="1947672" cy="2926080"/>
          </a:xfrm>
          <a:prstGeom prst="roundRect">
            <a:avLst>
              <a:gd name="adj" fmla="val 3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badg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Collect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Scores for 104 matches, FIFA ranking (11 Jun), Transfermarkt values, ages, WC history</a:t>
            </a:r>
            <a:endParaRPr lang="en-US" sz="1200" dirty="0"/>
          </a:p>
        </p:txBody>
      </p:sp>
      <p:sp>
        <p:nvSpPr>
          <p:cNvPr id="8" name="Step 2 card"/>
          <p:cNvSpPr/>
          <p:nvPr/>
        </p:nvSpPr>
        <p:spPr>
          <a:xfrm>
            <a:off x="2587752" y="1234440"/>
            <a:ext cx="1947672" cy="2926080"/>
          </a:xfrm>
          <a:prstGeom prst="roundRect">
            <a:avLst>
              <a:gd name="adj" fmla="val 3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badge"/>
          <p:cNvSpPr/>
          <p:nvPr/>
        </p:nvSpPr>
        <p:spPr>
          <a:xfrm>
            <a:off x="2816352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5603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Group scores rebuild all 12 official tables; knockout scores confirmed by ≥2 sources</a:t>
            </a:r>
            <a:endParaRPr lang="en-US" sz="1200" dirty="0"/>
          </a:p>
        </p:txBody>
      </p:sp>
      <p:sp>
        <p:nvSpPr>
          <p:cNvPr id="13" name="Step 3 card"/>
          <p:cNvSpPr/>
          <p:nvPr/>
        </p:nvSpPr>
        <p:spPr>
          <a:xfrm>
            <a:off x="4718304" y="1234440"/>
            <a:ext cx="1947672" cy="2926080"/>
          </a:xfrm>
          <a:prstGeom prst="roundRect">
            <a:avLst>
              <a:gd name="adj" fmla="val 3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3 badge"/>
          <p:cNvSpPr/>
          <p:nvPr/>
        </p:nvSpPr>
        <p:spPr>
          <a:xfrm>
            <a:off x="4946904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4690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46904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Engineer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946904" y="25603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 uses only matches played earlier; team1 − team2 differences for 2.1</a:t>
            </a:r>
            <a:endParaRPr lang="en-US" sz="1200" dirty="0"/>
          </a:p>
        </p:txBody>
      </p:sp>
      <p:sp>
        <p:nvSpPr>
          <p:cNvPr id="18" name="Step 4 card"/>
          <p:cNvSpPr/>
          <p:nvPr/>
        </p:nvSpPr>
        <p:spPr>
          <a:xfrm>
            <a:off x="6848856" y="1234440"/>
            <a:ext cx="1947672" cy="2926080"/>
          </a:xfrm>
          <a:prstGeom prst="roundRect">
            <a:avLst>
              <a:gd name="adj" fmla="val 3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4 badge"/>
          <p:cNvSpPr/>
          <p:nvPr/>
        </p:nvSpPr>
        <p:spPr>
          <a:xfrm>
            <a:off x="7077456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25603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OLS, backward elimination, 80/20 split + 20× repeated 10-fold CV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The 8 explanatory variables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2.1 (team1 − team2)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2.2 (team view)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fifa_rank_diff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fifa_rank, opp_fifa_rank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log_value_ratio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log_market_value, opp_log_market_value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avg_age_diff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continent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host_diff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 / pedigree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wc_experience_diff, elite_conf_diff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 / 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rest_days_diff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is_knockout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 form so far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form_gd_pg_diff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form_gf_pg, opp_form_ga_pg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2.1: squad value and ranking move with goal difference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VIF callout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VIF value"/>
          <p:cNvSpPr txBox="1"/>
          <p:nvPr/>
        </p:nvSpPr>
        <p:spPr>
          <a:xfrm>
            <a:off x="6126480" y="1371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4000" dirty="0"/>
          </a:p>
        </p:txBody>
      </p:sp>
      <p:sp>
        <p:nvSpPr>
          <p:cNvPr id="6" name="VIF label"/>
          <p:cNvSpPr txBox="1"/>
          <p:nvPr/>
        </p:nvSpPr>
        <p:spPr>
          <a:xfrm>
            <a:off x="61264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VIF of log_value_ratio: overlaps with FIFA rank (r = −0.79)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Several variables carry the same 'team strength' signal, so not all can stay significant together.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2.1: three variables survive elimination</a:t>
            </a:r>
            <a:endParaRPr lang="en-US" sz="2600" dirty="0"/>
          </a:p>
        </p:txBody>
      </p:sp>
      <p:pic>
        <p:nvPicPr>
          <p:cNvPr id="3" name="LR2.1 coefficient plot" descr="/home/claude/hit140_obj2/outputs/figures/LR2.1_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937760" cy="2848708"/>
          </a:xfrm>
          <a:prstGeom prst="rect">
            <a:avLst/>
          </a:prstGeom>
        </p:spPr>
      </p:pic>
      <p:sp>
        <p:nvSpPr>
          <p:cNvPr id="4" name="Model B coefficient log_value_ratio"/>
          <p:cNvSpPr/>
          <p:nvPr/>
        </p:nvSpPr>
        <p:spPr>
          <a:xfrm>
            <a:off x="5577840" y="114300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234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+1.09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log_value_ratio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 ln-unit (≈2.7× squad value)</a:t>
            </a:r>
            <a:endParaRPr lang="en-US" sz="1100" dirty="0"/>
          </a:p>
        </p:txBody>
      </p:sp>
      <p:sp>
        <p:nvSpPr>
          <p:cNvPr id="7" name="Model B coefficient avg_age_diff"/>
          <p:cNvSpPr/>
          <p:nvPr/>
        </p:nvSpPr>
        <p:spPr>
          <a:xfrm>
            <a:off x="5577840" y="219456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22860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avg_age_diff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 year older on average</a:t>
            </a:r>
            <a:endParaRPr lang="en-US" sz="1100" dirty="0"/>
          </a:p>
        </p:txBody>
      </p:sp>
      <p:sp>
        <p:nvSpPr>
          <p:cNvPr id="10" name="Model B coefficient elite_conf_diff"/>
          <p:cNvSpPr/>
          <p:nvPr/>
        </p:nvSpPr>
        <p:spPr>
          <a:xfrm>
            <a:off x="5577840" y="324612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3337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−0.71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elite_conf_diff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UEFA/CONMEBOL vs. others, given value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Model B: adjusted R² 0.480 (Model A, all 8 variables: 0.469). All p &lt; 0.01.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2.1: the simpler model predicts unseen matches better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st R2 value"/>
          <p:cNvSpPr txBox="1"/>
          <p:nvPr/>
        </p:nvSpPr>
        <p:spPr>
          <a:xfrm>
            <a:off x="5760720" y="1280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4000" dirty="0"/>
          </a:p>
        </p:txBody>
      </p:sp>
      <p:sp>
        <p:nvSpPr>
          <p:cNvPr id="5" name="test R2 label"/>
          <p:cNvSpPr txBox="1"/>
          <p:nvPr/>
        </p:nvSpPr>
        <p:spPr>
          <a:xfrm>
            <a:off x="57607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Model B test R² (Model A: 0.28)</a:t>
            </a:r>
            <a:endParaRPr lang="en-US" sz="1200" dirty="0"/>
          </a:p>
        </p:txBody>
      </p:sp>
      <p:sp>
        <p:nvSpPr>
          <p:cNvPr id="6" name="error cut value"/>
          <p:cNvSpPr txBox="1"/>
          <p:nvPr/>
        </p:nvSpPr>
        <p:spPr>
          <a:xfrm>
            <a:off x="576072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−27%</a:t>
            </a:r>
            <a:endParaRPr lang="en-US" sz="4000" dirty="0"/>
          </a:p>
        </p:txBody>
      </p:sp>
      <p:sp>
        <p:nvSpPr>
          <p:cNvPr id="7" name="error cut label"/>
          <p:cNvSpPr txBox="1"/>
          <p:nvPr/>
        </p:nvSpPr>
        <p:spPr>
          <a:xfrm>
            <a:off x="576072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error vs. predicting the average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Residuals look normal (Shapiro–Wilk p = 0.60) with constant spread (Breusch–Pagan p = 0.15).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2.2: goals are a small, skewed count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ean goals value"/>
          <p:cNvSpPr txBox="1"/>
          <p:nvPr/>
        </p:nvSpPr>
        <p:spPr>
          <a:xfrm>
            <a:off x="5852160" y="1280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</a:t>
            </a:r>
            <a:endParaRPr lang="en-US" sz="4000" dirty="0"/>
          </a:p>
        </p:txBody>
      </p:sp>
      <p:sp>
        <p:nvSpPr>
          <p:cNvPr id="5" name="mean goals label"/>
          <p:cNvSpPr txBox="1"/>
          <p:nvPr/>
        </p:nvSpPr>
        <p:spPr>
          <a:xfrm>
            <a:off x="58521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mean goals per team per match</a:t>
            </a:r>
            <a:endParaRPr lang="en-US" sz="1200" dirty="0"/>
          </a:p>
        </p:txBody>
      </p:sp>
      <p:sp>
        <p:nvSpPr>
          <p:cNvPr id="6" name="max r value"/>
          <p:cNvSpPr txBox="1"/>
          <p:nvPr/>
        </p:nvSpPr>
        <p:spPr>
          <a:xfrm>
            <a:off x="5852160" y="2514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4000" dirty="0"/>
          </a:p>
        </p:txBody>
      </p:sp>
      <p:sp>
        <p:nvSpPr>
          <p:cNvPr id="7" name="max r label"/>
          <p:cNvSpPr txBox="1"/>
          <p:nvPr/>
        </p:nvSpPr>
        <p:spPr>
          <a:xfrm>
            <a:off x="58521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strongest correlation (own squad value)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61% of rows are 0 or 1 goals, so one team's tally is much noisier than a match's margin.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2.2: own value and opponent rank drive goals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odel B effect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52160" y="13258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+0.45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325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goals per ln-unit of own squad value</a:t>
            </a:r>
            <a:endParaRPr lang="en-US" sz="1200" dirty="0"/>
          </a:p>
        </p:txBody>
      </p:sp>
      <p:sp>
        <p:nvSpPr>
          <p:cNvPr id="7" name="Model B effect 2"/>
          <p:cNvSpPr/>
          <p:nvPr/>
        </p:nvSpPr>
        <p:spPr>
          <a:xfrm>
            <a:off x="5669280" y="2377440"/>
            <a:ext cx="3017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5146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514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goal vs. an opponent ranked 50 places lower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B keeps 2 of 8 variables (adj. R² 0.261 vs. 0.267 for A) and is best in cross-validation.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2.2: the residuals reveal the model's limits</a:t>
            </a:r>
            <a:endParaRPr lang="en-US" sz="2600" dirty="0"/>
          </a:p>
        </p:txBody>
      </p:sp>
      <p:pic>
        <p:nvPicPr>
          <p:cNvPr id="3" name="LR2.2 diagnostics" descr="/home/claude/hit140_obj2/outputs/figures/LR2.2_diagnos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857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Striped residuals and failed checks (Shapiro–Wilk p = 0.001, Breusch–Pagan p &lt; 0.001) come from an integer target.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log(1 + goals) Model C improves normality (p = 0.021) but not cross-validated error.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 step beyond this unit: Poisson regression for count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we learned</a:t>
            </a:r>
            <a:endParaRPr lang="en-US" sz="2600" dirty="0"/>
          </a:p>
        </p:txBody>
      </p:sp>
      <p:sp>
        <p:nvSpPr>
          <p:cNvPr id="3" name="Takeaway 1"/>
          <p:cNvSpPr/>
          <p:nvPr/>
        </p:nvSpPr>
        <p:spPr>
          <a:xfrm>
            <a:off x="457200" y="1188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Squad value wins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most consistent pre-match predictor in both models.</a:t>
            </a:r>
            <a:endParaRPr lang="en-US" sz="1300" dirty="0"/>
          </a:p>
        </p:txBody>
      </p:sp>
      <p:sp>
        <p:nvSpPr>
          <p:cNvPr id="6" name="Takeaway 2"/>
          <p:cNvSpPr/>
          <p:nvPr/>
        </p:nvSpPr>
        <p:spPr>
          <a:xfrm>
            <a:off x="3264408" y="1188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Margins beat tallies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2.1 explains ~48% of variance; 2.2 only ~26%.</a:t>
            </a:r>
            <a:endParaRPr lang="en-US" sz="1300" dirty="0"/>
          </a:p>
        </p:txBody>
      </p:sp>
      <p:sp>
        <p:nvSpPr>
          <p:cNvPr id="9" name="Takeaway 3"/>
          <p:cNvSpPr/>
          <p:nvPr/>
        </p:nvSpPr>
        <p:spPr>
          <a:xfrm>
            <a:off x="6071616" y="1188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Simpler generalises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Backward elimination cut error on unseen data in both tasks.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Small samples (104 / 208 rows); single test split varies, so CV is reported too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Form = 0 before each team's first match; squad values snapshot from 18 June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Paired rows in 2.2 are not independent; FIFA rank is ordinal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">
  <a:themeElements>
    <a:clrScheme name="Pitch">
      <a:dk1>
        <a:srgbClr val="16231D"/>
      </a:dk1>
      <a:lt1>
        <a:srgbClr val="FFFFFF"/>
      </a:lt1>
      <a:dk2>
        <a:srgbClr val="0B3D2E"/>
      </a:dk2>
      <a:lt2>
        <a:srgbClr val="EEF3EF"/>
      </a:lt2>
      <a:accent1>
        <a:srgbClr val="0B3D2E"/>
      </a:accent1>
      <a:accent2>
        <a:srgbClr val="E0A800"/>
      </a:accent2>
      <a:accent3>
        <a:srgbClr val="2E8B57"/>
      </a:accent3>
      <a:accent4>
        <a:srgbClr val="9DB8A8"/>
      </a:accent4>
      <a:accent5>
        <a:srgbClr val="C0392B"/>
      </a:accent5>
      <a:accent6>
        <a:srgbClr val="5B6B63"/>
      </a:accent6>
      <a:hlink>
        <a:srgbClr val="1F6F8B"/>
      </a:hlink>
      <a:folHlink>
        <a:srgbClr val="5B6B63"/>
      </a:folHlink>
    </a:clrScheme>
    <a:fontScheme name="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World Cup 2026 results with linear regression</dc:title>
  <dc:subject>PptxGenJS Presentation</dc:subject>
  <dc:creator>HIT140 Sydney Group 07</dc:creator>
  <cp:lastModifiedBy>HIT140 Sydney Group 07</cp:lastModifiedBy>
  <cp:revision>1</cp:revision>
  <dcterms:created xsi:type="dcterms:W3CDTF">2026-10-11T09:45:53Z</dcterms:created>
  <dcterms:modified xsi:type="dcterms:W3CDTF">2026-10-11T09:45:53Z</dcterms:modified>
</cp:coreProperties>
</file>